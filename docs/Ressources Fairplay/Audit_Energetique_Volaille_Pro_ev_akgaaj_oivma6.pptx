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3" r:id="rId14"/>
    <p:sldId id="264" r:id="rId15"/>
    <p:sldId id="260" r:id="rId6"/>
    <p:sldId id="261" r:id="rId7"/>
    <p:sldId id="265" r:id="rId16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120" y="53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Feuille_de_calcul_Microsoft_Excel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Feuille_de_calcul_Microsoft_Excel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Consommation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6B3A"/>
              </a:solidFill>
              <a:effectLst/>
            </c:spPr>
          </c:dPt>
          <c:dPt>
            <c:idx val="1"/>
            <c:bubble3D val="0"/>
            <c:spPr>
              <a:solidFill>
                <a:srgbClr val="4CAF50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layout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F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F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Électricité Abattoir</c:v>
                </c:pt>
                <c:pt idx="1">
                  <c:v>Électricité Ferme</c:v>
                </c:pt>
                <c:pt idx="2">
                  <c:v>Gaz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12499900</c:v>
                </c:pt>
                <c:pt idx="1">
                  <c:v>5783108</c:v>
                </c:pt>
                <c:pt idx="2">
                  <c:v>1982683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000000"/>
                </a:solidFill>
                <a:latin typeface="Arial"/>
              </a:rPr>
              <a:t>Poids par pôle (sur 88 pts)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Poids (pts)</c:v>
                </c:pt>
              </c:strCache>
            </c:strRef>
          </c:tx>
          <c:spPr>
            <a:solidFill>
              <a:srgbClr val="1A6B3A"/>
            </a:solidFill>
            <a:effectLst/>
          </c:spPr>
          <c:invertIfNegative val="0"/>
          <c:dPt>
            <c:idx val="0"/>
            <c:invertIfNegative val="0"/>
            <c:bubble3D val="0"/>
          </c:dPt>
          <c:dPt>
            <c:idx val="1"/>
            <c:invertIfNegative val="0"/>
            <c:bubble3D val="0"/>
            <c:spPr>
              <a:solidFill>
                <a:srgbClr val="2E7D3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88E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3A04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66BB6A"/>
              </a:solidFill>
              <a:effectLst/>
            </c:spPr>
          </c:dPt>
          <c:dLbls>
            <c:numFmt formatCode="#,##0" sourceLinked="0"/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Profil énergétique glo</c:v>
                </c:pt>
                <c:pt idx="1">
                  <c:v>Élevage &amp; bâtiments</c:v>
                </c:pt>
                <c:pt idx="2">
                  <c:v>Abattage &amp; transformat</c:v>
                </c:pt>
                <c:pt idx="3">
                  <c:v>Traitement &amp; conservat</c:v>
                </c:pt>
                <c:pt idx="4">
                  <c:v>Innovation &amp; valorisat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18</c:v>
                </c:pt>
                <c:pt idx="2">
                  <c:v>22</c:v>
                </c:pt>
                <c:pt idx="3">
                  <c:v>19</c:v>
                </c:pt>
                <c:pt idx="4">
                  <c:v>11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38113408"/>
        <c:axId val="138068736"/>
      </c:barChart>
      <c:catAx>
        <c:axId val="13811340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fr-FR"/>
          </a:p>
        </c:txPr>
        <c:crossAx val="138068736"/>
        <c:crosses val="autoZero"/>
        <c:auto val="1"/>
        <c:lblAlgn val="ctr"/>
        <c:lblOffset val="100"/>
        <c:noMultiLvlLbl val="1"/>
      </c:catAx>
      <c:valAx>
        <c:axId val="138068736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fr-FR"/>
          </a:p>
        </c:txPr>
        <c:crossAx val="138113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43A585-C027-44F8-98D9-5968B5E426F6}" type="datetimeFigureOut">
              <a:rPr lang="fr-FR" smtClean="0"/>
              <a:t>11/08/2026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2CB451-CD06-49FF-97B3-B2430734C74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0483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A6B3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457200"/>
            <a:ext cx="2743200" cy="2743200"/>
          </a:xfrm>
          <a:prstGeom prst="ellipse">
            <a:avLst/>
          </a:prstGeom>
          <a:solidFill>
            <a:srgbClr val="4CAF50">
              <a:alpha val="3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0972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ÉNERGÉTIQUE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20040" y="17830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Unité de Production et Transformation de Volaille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320040" y="2423160"/>
            <a:ext cx="228600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6"/>
          <p:cNvSpPr/>
          <p:nvPr/>
        </p:nvSpPr>
        <p:spPr>
          <a:xfrm>
            <a:off x="32004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 performance | Exercice 2024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" y="3383280"/>
            <a:ext cx="2011680" cy="1371600"/>
          </a:xfrm>
          <a:prstGeom prst="rect">
            <a:avLst/>
          </a:prstGeom>
          <a:solidFill>
            <a:srgbClr val="1A6B3A">
              <a:alpha val="6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0040" y="3429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12 499 </a:t>
            </a:r>
            <a:r>
              <a:rPr lang="en-US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20040" y="3977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" y="4251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élec. abattoir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468880" y="3383280"/>
            <a:ext cx="2011680" cy="1371600"/>
          </a:xfrm>
          <a:prstGeom prst="rect">
            <a:avLst/>
          </a:prstGeom>
          <a:solidFill>
            <a:srgbClr val="1A6B3A">
              <a:alpha val="6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468880" y="3429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5 783 </a:t>
            </a:r>
            <a:r>
              <a:rPr lang="en-US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468880" y="3977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468880" y="4251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élec. ferme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617720" y="3383280"/>
            <a:ext cx="2011680" cy="1371600"/>
          </a:xfrm>
          <a:prstGeom prst="rect">
            <a:avLst/>
          </a:prstGeom>
          <a:solidFill>
            <a:srgbClr val="1A6B3A">
              <a:alpha val="6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617720" y="3429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1 982 </a:t>
            </a:r>
            <a:r>
              <a:rPr lang="en-US" sz="2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617720" y="3977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617720" y="4251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 gaz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766560" y="3383280"/>
            <a:ext cx="2011680" cy="1371600"/>
          </a:xfrm>
          <a:prstGeom prst="rect">
            <a:avLst/>
          </a:prstGeom>
          <a:solidFill>
            <a:srgbClr val="1A6B3A">
              <a:alpha val="6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766560" y="34290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6766560" y="3977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766560" y="425196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applicable total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81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PÉRIMÈTRE DE L'AUDIT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05840"/>
            <a:ext cx="502920" cy="1691640"/>
          </a:xfrm>
          <a:prstGeom prst="rect">
            <a:avLst/>
          </a:prstGeom>
          <a:solidFill>
            <a:srgbClr val="1A6B3A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" y="160020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1097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énergétique global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68680" y="150876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consommations par source (gaz, électricité), détection des pics et analyse des dérives. Poids : 18 pts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709160" y="100584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09160" y="1005840"/>
            <a:ext cx="502920" cy="1691640"/>
          </a:xfrm>
          <a:prstGeom prst="rect">
            <a:avLst/>
          </a:prstGeom>
          <a:solidFill>
            <a:srgbClr val="1565C0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160020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03520" y="10972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élevage &amp; bâtiments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303520" y="150876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thermique, ventilation à vitesse variable, éclairage LED, pilotage des lots. Poids : 18 pts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274320" y="29260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274320" y="2926080"/>
            <a:ext cx="502920" cy="1691640"/>
          </a:xfrm>
          <a:prstGeom prst="rect">
            <a:avLst/>
          </a:prstGeom>
          <a:solidFill>
            <a:srgbClr val="7B1F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" y="352044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" y="30175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abattage &amp; transformation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868680" y="342900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 froid, échaudage, air comprimé, maintenance préventive des procédés. Poids : 22 pts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709160" y="29260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09160" y="2926080"/>
            <a:ext cx="502920" cy="1691640"/>
          </a:xfrm>
          <a:prstGeom prst="rect">
            <a:avLst/>
          </a:prstGeom>
          <a:solidFill>
            <a:srgbClr val="00838F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3168" y="352044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03520" y="301752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Pôle traitement &amp; conservation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303520" y="3429000"/>
            <a:ext cx="3429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frigorifique, maintenance prédictive, récupération de chaleur fatale. Poids : 19 pts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2331720" y="4846320"/>
            <a:ext cx="4480560" cy="182880"/>
          </a:xfrm>
          <a:prstGeom prst="rect">
            <a:avLst/>
          </a:prstGeom>
          <a:solidFill>
            <a:srgbClr val="4CAF50">
              <a:alpha val="3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CONSOMMATIONS ÉNERGÉTIQUES 2024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43891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937760" y="1097280"/>
            <a:ext cx="3931920" cy="9144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937760" y="1097280"/>
            <a:ext cx="109728" cy="91440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7" name="Text 4"/>
          <p:cNvSpPr/>
          <p:nvPr/>
        </p:nvSpPr>
        <p:spPr>
          <a:xfrm>
            <a:off x="5120640" y="1143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1206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Électricité Abattoir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0" y="13533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12 499 </a:t>
            </a:r>
            <a:r>
              <a:rPr lang="en-US" sz="1200" b="1" dirty="0" smtClean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</a:t>
            </a:r>
            <a:r>
              <a:rPr lang="en-US" sz="12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937760" y="2194560"/>
            <a:ext cx="3931920" cy="9144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2194560"/>
            <a:ext cx="109728" cy="9144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Text 9"/>
          <p:cNvSpPr/>
          <p:nvPr/>
        </p:nvSpPr>
        <p:spPr>
          <a:xfrm>
            <a:off x="5120640" y="22402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12064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Électricité Ferme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858000" y="24505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5 783 </a:t>
            </a:r>
            <a:r>
              <a:rPr lang="en-US" sz="1200" b="1" dirty="0" smtClean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</a:t>
            </a:r>
            <a:r>
              <a:rPr lang="en-US" sz="12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937760" y="3291840"/>
            <a:ext cx="3931920" cy="9144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937760" y="3291840"/>
            <a:ext cx="109728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5120640" y="33375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1206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858000" y="35478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1 982 </a:t>
            </a:r>
            <a:r>
              <a:rPr lang="en-US" sz="1200" b="1" dirty="0" smtClean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</a:t>
            </a:r>
            <a:r>
              <a:rPr lang="en-US" sz="12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kWh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37760" y="4389120"/>
            <a:ext cx="3931920" cy="457200"/>
          </a:xfrm>
          <a:prstGeom prst="rect">
            <a:avLst/>
          </a:prstGeom>
          <a:solidFill>
            <a:srgbClr val="FFF9C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Total : 20 265 691 kWh consommés en 2024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81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PAR PÔLE — POIDS &amp; SCORING</a:t>
            </a:r>
            <a:endParaRPr lang="en-US" sz="2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91440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663440" y="914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CONSTATS CLÉS PAR PÔLE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663440" y="1371600"/>
            <a:ext cx="4206240" cy="62179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663440" y="1371600"/>
            <a:ext cx="91440" cy="621792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8" name="Text 5"/>
          <p:cNvSpPr/>
          <p:nvPr/>
        </p:nvSpPr>
        <p:spPr>
          <a:xfrm>
            <a:off x="4828032" y="139903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énergétique global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828032" y="1645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smart metering. Pics liés aux semaines d'abattage. Pertes non analysées.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663440" y="2084832"/>
            <a:ext cx="4206240" cy="62179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63440" y="2084832"/>
            <a:ext cx="91440" cy="62179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9"/>
          <p:cNvSpPr/>
          <p:nvPr/>
        </p:nvSpPr>
        <p:spPr>
          <a:xfrm>
            <a:off x="4828032" y="211226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Élevage &amp; bâtiments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28032" y="235915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en place, mais sans capteurs ni minuteries. Ventilation régulée. Isolation correcte.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63440" y="2798064"/>
            <a:ext cx="4206240" cy="62179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63440" y="2798064"/>
            <a:ext cx="91440" cy="62179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6" name="Text 13"/>
          <p:cNvSpPr/>
          <p:nvPr/>
        </p:nvSpPr>
        <p:spPr>
          <a:xfrm>
            <a:off x="4828032" y="282549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Abattage &amp; transformation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28032" y="30723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Conduites de chaudière non isolées. Pas de suivi par atelier. Fuites d'air comprimé ponctuelles.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663440" y="3511296"/>
            <a:ext cx="4206240" cy="62179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63440" y="3511296"/>
            <a:ext cx="91440" cy="621792"/>
          </a:xfrm>
          <a:prstGeom prst="rect">
            <a:avLst/>
          </a:prstGeom>
          <a:solidFill>
            <a:srgbClr val="00838F"/>
          </a:solidFill>
          <a:ln/>
        </p:spPr>
      </p:sp>
      <p:sp>
        <p:nvSpPr>
          <p:cNvPr id="20" name="Text 17"/>
          <p:cNvSpPr/>
          <p:nvPr/>
        </p:nvSpPr>
        <p:spPr>
          <a:xfrm>
            <a:off x="4828032" y="353872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 &amp; conservation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28032" y="37856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maintenance prédictive. Chaleur fatale non récupérée. Ouvertures de portes non maîtrisées.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663440" y="4224528"/>
            <a:ext cx="4206240" cy="621792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63440" y="4224528"/>
            <a:ext cx="91440" cy="62179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4" name="Text 21"/>
          <p:cNvSpPr/>
          <p:nvPr/>
        </p:nvSpPr>
        <p:spPr>
          <a:xfrm>
            <a:off x="4828032" y="42519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valorisation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28032" y="44988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solaire réalisée par BLUEN. Pas de stratégie énergétique formalisée.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6B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FORTS &amp; AXES D'AMÉLIORATION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45720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9784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FORTS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4320" y="1463040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47472" y="1536192"/>
            <a:ext cx="201168" cy="20116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" y="14813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thermique satisfaisante (panneaux sandwich chambres froides + poulaillers)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4320" y="1984248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7472" y="2057400"/>
            <a:ext cx="201168" cy="20116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" y="20025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Éclairage LED déjà déployé sur le site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2505456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7472" y="2578608"/>
            <a:ext cx="201168" cy="20116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" y="252374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Ventilation avec régulateur multi-ventilateurs adapté aux besoins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74320" y="3026664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47472" y="3099816"/>
            <a:ext cx="201168" cy="20116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" y="30449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du froid maintenue (rideaux à lanières en bon état)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74320" y="3547872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47472" y="3621024"/>
            <a:ext cx="201168" cy="20116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1" name="Text 18"/>
          <p:cNvSpPr/>
          <p:nvPr/>
        </p:nvSpPr>
        <p:spPr>
          <a:xfrm>
            <a:off x="621792" y="3566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Étude solaire réalisée par le cabinet BLUEN (groupe)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274320" y="4069080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47472" y="4142232"/>
            <a:ext cx="201168" cy="201168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24" name="Text 21"/>
          <p:cNvSpPr/>
          <p:nvPr/>
        </p:nvSpPr>
        <p:spPr>
          <a:xfrm>
            <a:off x="621792" y="40873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curative des équipements pratiquée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846320" y="914400"/>
            <a:ext cx="4023360" cy="4572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960120"/>
            <a:ext cx="320040" cy="32004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349240" y="97840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AXES D'AMÉLIORATION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4846320" y="1463040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919472" y="153619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0" name="Text 26"/>
          <p:cNvSpPr/>
          <p:nvPr/>
        </p:nvSpPr>
        <p:spPr>
          <a:xfrm>
            <a:off x="5193792" y="148132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smart metering / suivi temps réel des consommations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846320" y="1984248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919472" y="2057400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29"/>
          <p:cNvSpPr/>
          <p:nvPr/>
        </p:nvSpPr>
        <p:spPr>
          <a:xfrm>
            <a:off x="5193792" y="20025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Conduites de chaudière non isolées (pertes thermiques)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4846320" y="2505456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1"/>
          <p:cNvSpPr/>
          <p:nvPr/>
        </p:nvSpPr>
        <p:spPr>
          <a:xfrm>
            <a:off x="4919472" y="2578608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6" name="Text 32"/>
          <p:cNvSpPr/>
          <p:nvPr/>
        </p:nvSpPr>
        <p:spPr>
          <a:xfrm>
            <a:off x="5193792" y="2523744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maintenance prédictive (condenseurs, évaporateurs)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4846320" y="3026664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4919472" y="3099816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9" name="Text 35"/>
          <p:cNvSpPr/>
          <p:nvPr/>
        </p:nvSpPr>
        <p:spPr>
          <a:xfrm>
            <a:off x="5193792" y="304495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Chaleur fatale des groupes frigo non récupérée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4846320" y="3547872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4919472" y="3621024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38"/>
          <p:cNvSpPr/>
          <p:nvPr/>
        </p:nvSpPr>
        <p:spPr>
          <a:xfrm>
            <a:off x="5193792" y="3566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suivi de consommation par atelier ou équipement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4846320" y="4069080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4919472" y="4142232"/>
            <a:ext cx="201168" cy="201168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5" name="Text 41"/>
          <p:cNvSpPr/>
          <p:nvPr/>
        </p:nvSpPr>
        <p:spPr>
          <a:xfrm>
            <a:off x="5193792" y="40873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stratégie énergétique formalisée avec objectifs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2818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16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0972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D'ACTION PRIORITAIRE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228600" y="914400"/>
            <a:ext cx="2743200" cy="5943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" y="914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TERME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28600" y="126187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0-3 mois · Quick Wins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28600" y="1600200"/>
            <a:ext cx="27432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28600" y="1600200"/>
            <a:ext cx="73152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62763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Isoler les conduites de la chaudière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28600" y="2423160"/>
            <a:ext cx="27432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28600" y="2423160"/>
            <a:ext cx="73152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245059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capteurs luminosité &amp; minuteries LED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28600" y="3246120"/>
            <a:ext cx="27432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28600" y="3246120"/>
            <a:ext cx="73152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327355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tests fuites air comprimé réguliers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28600" y="4069080"/>
            <a:ext cx="27432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28600" y="4069080"/>
            <a:ext cx="73152" cy="7315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40965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suivi des consommations par atelier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154680" y="914400"/>
            <a:ext cx="274320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3154680" y="914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 TERME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154680" y="126187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3-12 mois · Investissements ciblés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154680" y="1600200"/>
            <a:ext cx="27432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154680" y="1600200"/>
            <a:ext cx="73152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2"/>
          <p:cNvSpPr/>
          <p:nvPr/>
        </p:nvSpPr>
        <p:spPr>
          <a:xfrm>
            <a:off x="3291840" y="162763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Installer smart metering sur tous les circuits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154680" y="2423160"/>
            <a:ext cx="27432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3154680" y="2423160"/>
            <a:ext cx="73152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5"/>
          <p:cNvSpPr/>
          <p:nvPr/>
        </p:nvSpPr>
        <p:spPr>
          <a:xfrm>
            <a:off x="3291840" y="245059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maintenance prédictive (condenseurs)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154680" y="3246120"/>
            <a:ext cx="27432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3154680" y="3246120"/>
            <a:ext cx="73152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8"/>
          <p:cNvSpPr/>
          <p:nvPr/>
        </p:nvSpPr>
        <p:spPr>
          <a:xfrm>
            <a:off x="3291840" y="327355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Étudier récupération chaleur fatale groupes frigo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154680" y="4069080"/>
            <a:ext cx="27432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3154680" y="4069080"/>
            <a:ext cx="73152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1"/>
          <p:cNvSpPr/>
          <p:nvPr/>
        </p:nvSpPr>
        <p:spPr>
          <a:xfrm>
            <a:off x="3291840" y="40965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Formaliser une stratégie énergétique avec KPIs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080760" y="914400"/>
            <a:ext cx="2743200" cy="59436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6" name="Text 33"/>
          <p:cNvSpPr/>
          <p:nvPr/>
        </p:nvSpPr>
        <p:spPr>
          <a:xfrm>
            <a:off x="6080760" y="9144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TERME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6080760" y="1261872"/>
            <a:ext cx="2743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12-36 mois · Transformation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080760" y="1600200"/>
            <a:ext cx="27432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080760" y="1600200"/>
            <a:ext cx="73152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0" name="Text 37"/>
          <p:cNvSpPr/>
          <p:nvPr/>
        </p:nvSpPr>
        <p:spPr>
          <a:xfrm>
            <a:off x="6217920" y="162763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Déployer l'installation solaire (étude BLUEN existante)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080760" y="2423160"/>
            <a:ext cx="27432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080760" y="2423160"/>
            <a:ext cx="73152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3" name="Text 40"/>
          <p:cNvSpPr/>
          <p:nvPr/>
        </p:nvSpPr>
        <p:spPr>
          <a:xfrm>
            <a:off x="6217920" y="245059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Automatiser le pilotage bâtiment (BMS/GTC)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080760" y="3246120"/>
            <a:ext cx="27432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2"/>
          <p:cNvSpPr/>
          <p:nvPr/>
        </p:nvSpPr>
        <p:spPr>
          <a:xfrm>
            <a:off x="6080760" y="3246120"/>
            <a:ext cx="73152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6" name="Text 43"/>
          <p:cNvSpPr/>
          <p:nvPr/>
        </p:nvSpPr>
        <p:spPr>
          <a:xfrm>
            <a:off x="6217920" y="327355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Certifier ISO 50001 (système de management énergie)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6080760" y="4069080"/>
            <a:ext cx="2743200" cy="73152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6080760" y="4069080"/>
            <a:ext cx="73152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49" name="Text 46"/>
          <p:cNvSpPr/>
          <p:nvPr/>
        </p:nvSpPr>
        <p:spPr>
          <a:xfrm>
            <a:off x="6217920" y="409651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28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Benchmarker et dupliquer les bonnes pratiques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A6B3A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4CAF50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972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365760" y="1691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PROCHAINES ÉTAPES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65760" y="2286000"/>
            <a:ext cx="5029200" cy="36576"/>
          </a:xfrm>
          <a:prstGeom prst="rect">
            <a:avLst/>
          </a:prstGeom>
          <a:solidFill>
            <a:srgbClr val="4CAF50">
              <a:alpha val="5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65760" y="2514600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248716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dispose d'une base solide : isolation, LED, ventilation régulée.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3081528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054096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marges de progrès sont importantes sur le pilotage et la maintenance.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3648456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62102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récupération d'énergie (chaleur, solaire) représente un potentiel non exploité.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5760" y="4215384"/>
            <a:ext cx="182880" cy="182880"/>
          </a:xfrm>
          <a:prstGeom prst="ellipse">
            <a:avLst/>
          </a:prstGeom>
          <a:solidFill>
            <a:srgbClr val="4CAF50"/>
          </a:solidFill>
          <a:ln/>
        </p:spPr>
      </p:sp>
      <p:sp>
        <p:nvSpPr>
          <p:cNvPr id="16" name="Text 13"/>
          <p:cNvSpPr/>
          <p:nvPr/>
        </p:nvSpPr>
        <p:spPr>
          <a:xfrm>
            <a:off x="640080" y="41879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stratégie énergétique formalisée est la priorité n°1.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 audit de suivi recommandé : dans 6 mois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SCORES TERRAIN — 12 CRITÈRES ÉVALUÉS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9611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Audit du 30 juin 2026  ·  Auditeur : TONOUHEWA  ·  Cycle mensuel  ·  Notation de 0 à 5 par critère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1207008"/>
            <a:ext cx="4224528" cy="17647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1207008"/>
            <a:ext cx="64008" cy="1764792"/>
          </a:xfrm>
          <a:prstGeom prst="rect">
            <a:avLst/>
          </a:prstGeom>
          <a:solidFill>
            <a:srgbClr val="1A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307592"/>
            <a:ext cx="3904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6B3A"/>
                </a:solidFill>
                <a:latin typeface="Calibri"/>
              </a:rPr>
              <a:t>PROFIL ÉNERGÉTIQUE GLOBAL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591056"/>
            <a:ext cx="365760" cy="310896"/>
          </a:xfrm>
          <a:prstGeom prst="roundRect">
            <a:avLst>
              <a:gd name="adj" fmla="val 22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64134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581912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D2818"/>
                </a:solidFill>
                <a:latin typeface="Calibri"/>
              </a:rPr>
              <a:t>Consommation annuelle connue par source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760220"/>
            <a:ext cx="30358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  <a:latin typeface="Calibri"/>
              </a:rPr>
              <a:t>NON ÉVALUÉ</a:t>
            </a:r>
            <a:r>
              <a:rPr sz="650" b="0" i="0">
                <a:solidFill>
                  <a:srgbClr val="64748B"/>
                </a:solidFill>
                <a:latin typeface="Calibri"/>
              </a:rPr>
              <a:t>   ·   poids 4 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" y="2020824"/>
            <a:ext cx="365760" cy="310896"/>
          </a:xfrm>
          <a:prstGeom prst="roundRect">
            <a:avLst>
              <a:gd name="adj" fmla="val 22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07111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011680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D2818"/>
                </a:solidFill>
                <a:latin typeface="Calibri"/>
              </a:rPr>
              <a:t>Pics de consommation identifiés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2189988"/>
            <a:ext cx="30358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94A3B8"/>
                </a:solidFill>
                <a:latin typeface="Calibri"/>
              </a:rPr>
              <a:t>NON ÉVALUÉ</a:t>
            </a:r>
            <a:r>
              <a:rPr sz="650" b="0" i="0">
                <a:solidFill>
                  <a:srgbClr val="64748B"/>
                </a:solidFill>
                <a:latin typeface="Calibri"/>
              </a:rPr>
              <a:t>   ·   poids 3 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2450591"/>
            <a:ext cx="365760" cy="310896"/>
          </a:xfrm>
          <a:prstGeom prst="roundRect">
            <a:avLst>
              <a:gd name="adj" fmla="val 22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50088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2441448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D2818"/>
                </a:solidFill>
                <a:latin typeface="Calibri"/>
              </a:rPr>
              <a:t>Smart metering temps réel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619756"/>
            <a:ext cx="30358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DC2626"/>
                </a:solidFill>
                <a:latin typeface="Calibri"/>
              </a:rPr>
              <a:t>INEXISTANT</a:t>
            </a:r>
            <a:r>
              <a:rPr sz="650" b="0" i="0">
                <a:solidFill>
                  <a:srgbClr val="64748B"/>
                </a:solidFill>
                <a:latin typeface="Calibri"/>
              </a:rPr>
              <a:t>   ·   poids 4 pts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26864" y="1207008"/>
            <a:ext cx="4224528" cy="17647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26864" y="1207008"/>
            <a:ext cx="64008" cy="1764792"/>
          </a:xfrm>
          <a:prstGeom prst="rect">
            <a:avLst/>
          </a:prstGeom>
          <a:solidFill>
            <a:srgbClr val="1A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9744" y="1307592"/>
            <a:ext cx="3904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6B3A"/>
                </a:solidFill>
                <a:latin typeface="Calibri"/>
              </a:rPr>
              <a:t>PÔLE ÉLEVAGE &amp; BÂTIMENTS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9744" y="1591056"/>
            <a:ext cx="365760" cy="310896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9744" y="164134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1581912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D2818"/>
                </a:solidFill>
                <a:latin typeface="Calibri"/>
              </a:rPr>
              <a:t>Isolation thermique des bâtiments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66944" y="1760220"/>
            <a:ext cx="30358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  <a:latin typeface="Calibri"/>
              </a:rPr>
              <a:t>FAIBLE</a:t>
            </a:r>
            <a:r>
              <a:rPr sz="650" b="0" i="0">
                <a:solidFill>
                  <a:srgbClr val="64748B"/>
                </a:solidFill>
                <a:latin typeface="Calibri"/>
              </a:rPr>
              <a:t>   ·   poids 4 pts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9744" y="2020824"/>
            <a:ext cx="365760" cy="310896"/>
          </a:xfrm>
          <a:prstGeom prst="roundRect">
            <a:avLst>
              <a:gd name="adj" fmla="val 22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9744" y="207111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2011680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D2818"/>
                </a:solidFill>
                <a:latin typeface="Calibri"/>
              </a:rPr>
              <a:t>Ventilateurs avec variateurs de vitesse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66944" y="2189988"/>
            <a:ext cx="30358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EF4444"/>
                </a:solidFill>
                <a:latin typeface="Calibri"/>
              </a:rPr>
              <a:t>CRITIQUE</a:t>
            </a:r>
            <a:r>
              <a:rPr sz="650" b="0" i="0">
                <a:solidFill>
                  <a:srgbClr val="64748B"/>
                </a:solidFill>
                <a:latin typeface="Calibri"/>
              </a:rPr>
              <a:t>   ·   poids 3 pts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809744" y="2450591"/>
            <a:ext cx="365760" cy="310896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9744" y="2500884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66944" y="2441448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D2818"/>
                </a:solidFill>
                <a:latin typeface="Calibri"/>
              </a:rPr>
              <a:t>Éclairage LED avec capteurs / minuterie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66944" y="2619756"/>
            <a:ext cx="30358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F59E0B"/>
                </a:solidFill>
                <a:latin typeface="Calibri"/>
              </a:rPr>
              <a:t>FAIBLE</a:t>
            </a:r>
            <a:r>
              <a:rPr sz="650" b="0" i="0">
                <a:solidFill>
                  <a:srgbClr val="64748B"/>
                </a:solidFill>
                <a:latin typeface="Calibri"/>
              </a:rPr>
              <a:t>   ·   poids 3 pts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2608" y="3063240"/>
            <a:ext cx="4224528" cy="17647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2608" y="3063240"/>
            <a:ext cx="64008" cy="1764792"/>
          </a:xfrm>
          <a:prstGeom prst="rect">
            <a:avLst/>
          </a:prstGeom>
          <a:solidFill>
            <a:srgbClr val="1A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" y="3163824"/>
            <a:ext cx="3904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6B3A"/>
                </a:solidFill>
                <a:latin typeface="Calibri"/>
              </a:rPr>
              <a:t>PÔLE ABATTAGE &amp; TRANSFORMATION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" y="3447288"/>
            <a:ext cx="365760" cy="310896"/>
          </a:xfrm>
          <a:prstGeom prst="roundRect">
            <a:avLst>
              <a:gd name="adj" fmla="val 22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" y="34975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" y="3438144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D2818"/>
                </a:solidFill>
                <a:latin typeface="Calibri"/>
              </a:rPr>
              <a:t>Compresseurs / chambres froides (âge, classe)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" y="3616452"/>
            <a:ext cx="30358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EF4444"/>
                </a:solidFill>
                <a:latin typeface="Calibri"/>
              </a:rPr>
              <a:t>CRITIQUE</a:t>
            </a:r>
            <a:r>
              <a:rPr sz="650" b="0" i="0">
                <a:solidFill>
                  <a:srgbClr val="64748B"/>
                </a:solidFill>
                <a:latin typeface="Calibri"/>
              </a:rPr>
              <a:t>   ·   poids 5 pts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" y="3877056"/>
            <a:ext cx="365760" cy="310896"/>
          </a:xfrm>
          <a:prstGeom prst="roundRect">
            <a:avLst>
              <a:gd name="adj" fmla="val 22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392734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" y="3867912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D2818"/>
                </a:solidFill>
                <a:latin typeface="Calibri"/>
              </a:rPr>
              <a:t>Système d'échaudage optimisé et isolé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" y="4046220"/>
            <a:ext cx="30358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EF4444"/>
                </a:solidFill>
                <a:latin typeface="Calibri"/>
              </a:rPr>
              <a:t>CRITIQUE</a:t>
            </a:r>
            <a:r>
              <a:rPr sz="650" b="0" i="0">
                <a:solidFill>
                  <a:srgbClr val="64748B"/>
                </a:solidFill>
                <a:latin typeface="Calibri"/>
              </a:rPr>
              <a:t>   ·   poids 4 pts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5488" y="4306824"/>
            <a:ext cx="365760" cy="310896"/>
          </a:xfrm>
          <a:prstGeom prst="roundRect">
            <a:avLst>
              <a:gd name="adj" fmla="val 22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435711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" y="4297680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D2818"/>
                </a:solidFill>
                <a:latin typeface="Calibri"/>
              </a:rPr>
              <a:t>Tests de détection fuites air comprimé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" y="4475988"/>
            <a:ext cx="30358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DC2626"/>
                </a:solidFill>
                <a:latin typeface="Calibri"/>
              </a:rPr>
              <a:t>INEXISTANT</a:t>
            </a:r>
            <a:r>
              <a:rPr sz="650" b="0" i="0">
                <a:solidFill>
                  <a:srgbClr val="64748B"/>
                </a:solidFill>
                <a:latin typeface="Calibri"/>
              </a:rPr>
              <a:t>   ·   poids 3 pts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26864" y="3063240"/>
            <a:ext cx="4224528" cy="176479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626864" y="3063240"/>
            <a:ext cx="64008" cy="1764792"/>
          </a:xfrm>
          <a:prstGeom prst="rect">
            <a:avLst/>
          </a:prstGeom>
          <a:solidFill>
            <a:srgbClr val="1A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09744" y="3163824"/>
            <a:ext cx="390448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1A6B3A"/>
                </a:solidFill>
                <a:latin typeface="Calibri"/>
              </a:rPr>
              <a:t>PÔLE TRAITEMENT &amp; CONSERVATION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09744" y="3447288"/>
            <a:ext cx="365760" cy="310896"/>
          </a:xfrm>
          <a:prstGeom prst="roundRect">
            <a:avLst>
              <a:gd name="adj" fmla="val 22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09744" y="349758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66944" y="3438144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D2818"/>
                </a:solidFill>
                <a:latin typeface="Calibri"/>
              </a:rPr>
              <a:t>Rideaux / portes automatiques chaîne du froid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66944" y="3616452"/>
            <a:ext cx="30358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EF4444"/>
                </a:solidFill>
                <a:latin typeface="Calibri"/>
              </a:rPr>
              <a:t>CRITIQUE</a:t>
            </a:r>
            <a:r>
              <a:rPr sz="650" b="0" i="0">
                <a:solidFill>
                  <a:srgbClr val="64748B"/>
                </a:solidFill>
                <a:latin typeface="Calibri"/>
              </a:rPr>
              <a:t>   ·   poids 4 pts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809744" y="3877056"/>
            <a:ext cx="365760" cy="310896"/>
          </a:xfrm>
          <a:prstGeom prst="roundRect">
            <a:avLst>
              <a:gd name="adj" fmla="val 22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09744" y="3927348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66944" y="3867912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D2818"/>
                </a:solidFill>
                <a:latin typeface="Calibri"/>
              </a:rPr>
              <a:t>Maintenance prédictive condenseurs / évaporateurs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66944" y="4046220"/>
            <a:ext cx="30358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EF4444"/>
                </a:solidFill>
                <a:latin typeface="Calibri"/>
              </a:rPr>
              <a:t>CRITIQUE</a:t>
            </a:r>
            <a:r>
              <a:rPr sz="650" b="0" i="0">
                <a:solidFill>
                  <a:srgbClr val="64748B"/>
                </a:solidFill>
                <a:latin typeface="Calibri"/>
              </a:rPr>
              <a:t>   ·   poids 4 pts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809744" y="4306824"/>
            <a:ext cx="365760" cy="310896"/>
          </a:xfrm>
          <a:prstGeom prst="roundRect">
            <a:avLst>
              <a:gd name="adj" fmla="val 22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09744" y="4357116"/>
            <a:ext cx="365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66944" y="4297680"/>
            <a:ext cx="303580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0D2818"/>
                </a:solidFill>
                <a:latin typeface="Calibri"/>
              </a:rPr>
              <a:t>Récupération de chaleur fatale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6944" y="4475988"/>
            <a:ext cx="30358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EF4444"/>
                </a:solidFill>
                <a:latin typeface="Calibri"/>
              </a:rPr>
              <a:t>CRITIQUE</a:t>
            </a:r>
            <a:r>
              <a:rPr sz="650" b="0" i="0">
                <a:solidFill>
                  <a:srgbClr val="64748B"/>
                </a:solidFill>
                <a:latin typeface="Calibri"/>
              </a:rPr>
              <a:t>   ·   poids 3 pts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Source : formulaire d'audit terrain — 12 critères répartis sur 4 pôles énergétiques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VERDICT GLOBAL DE L'AUDIT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608" y="1024128"/>
            <a:ext cx="8558784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5214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NIVEAU CRITIQUE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36192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Aucun critère n'atteint le niveau « bon » ou « excellent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133856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000" b="1" i="0">
                <a:solidFill>
                  <a:srgbClr val="FFFFFF"/>
                </a:solidFill>
                <a:latin typeface="Calibri"/>
              </a:rPr>
              <a:t>8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/ 10</a:t>
            </a:r>
            <a:r>
              <a:rPr sz="800" b="0" i="0">
                <a:solidFill>
                  <a:srgbClr val="FFFFFF"/>
                </a:solidFill>
                <a:latin typeface="Calibri"/>
              </a:rPr>
              <a:t>
critères notés à 0 ou 1 sur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2103120"/>
            <a:ext cx="2048256" cy="11704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2103120"/>
            <a:ext cx="2048256" cy="54864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49424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DC2626"/>
                </a:solidFill>
                <a:latin typeface="Calibri"/>
              </a:rPr>
              <a:t>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70048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D2818"/>
                </a:solidFill>
                <a:latin typeface="Calibri"/>
              </a:rPr>
              <a:t>critère ≥ 4/5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71216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Aucun poste au niveau bon ou excellent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0591" y="2103120"/>
            <a:ext cx="2048256" cy="11704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450591" y="2103120"/>
            <a:ext cx="2048256" cy="54864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15184" y="2249424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EF4444"/>
                </a:solidFill>
                <a:latin typeface="Calibri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15184" y="2670048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D2818"/>
                </a:solidFill>
                <a:latin typeface="Calibri"/>
              </a:rPr>
              <a:t>critères à 0 ou 1/5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2871216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Situation critique ou inexistante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08576" y="2103120"/>
            <a:ext cx="2048256" cy="11704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08576" y="2103120"/>
            <a:ext cx="2048256" cy="5486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73168" y="2249424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59E0B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2670048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D2818"/>
                </a:solidFill>
                <a:latin typeface="Calibri"/>
              </a:rPr>
              <a:t>critères à 2/5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2871216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Niveau faible, marge importante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2103120"/>
            <a:ext cx="2048256" cy="117043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66560" y="2103120"/>
            <a:ext cx="2048256" cy="54864"/>
          </a:xfrm>
          <a:prstGeom prst="rect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31152" y="2249424"/>
            <a:ext cx="17373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94A3B8"/>
                </a:solidFill>
                <a:latin typeface="Calibr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31152" y="2670048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D2818"/>
                </a:solidFill>
                <a:latin typeface="Calibri"/>
              </a:rPr>
              <a:t>critères non évalués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2871216"/>
            <a:ext cx="17373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  <a:latin typeface="Calibri"/>
              </a:rPr>
              <a:t>Données de consommation non formalisées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8" y="3429000"/>
            <a:ext cx="4224528" cy="12984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2608" y="3429000"/>
            <a:ext cx="64008" cy="1298448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566160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  <a:latin typeface="Calibri"/>
              </a:rPr>
              <a:t>PÔLE LE PLUS DÉGRADÉ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803904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D2818"/>
                </a:solidFill>
                <a:latin typeface="Calibri"/>
              </a:rPr>
              <a:t>Abattage &amp; Transformation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151376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Trois postes en situation d'urgence : compresseurs vieillissants, échaudage non isolé, aucune détection de fuites d'air comprimé.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26864" y="3429000"/>
            <a:ext cx="4224528" cy="1298448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626864" y="3429000"/>
            <a:ext cx="64008" cy="1298448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37176" y="3566160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4CAF50"/>
                </a:solidFill>
                <a:latin typeface="Calibri"/>
              </a:rPr>
              <a:t>POTENTIEL D'OPTIMISATION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37176" y="3803904"/>
            <a:ext cx="38404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D2818"/>
                </a:solidFill>
                <a:latin typeface="Calibri"/>
              </a:rPr>
              <a:t>Élevé sur tous les pôles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37176" y="4151376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Le niveau de départ bas signifie que même une action partielle bien exécutée génère un gain rapide et mesurable.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Score global calculé à partir des 12 critères pondérés — audit terrain du 30 juin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84124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RÉFÉRENCES TECHNIQUES &amp; GAINS ATTENDUS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96112"/>
            <a:ext cx="8412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Ordres de grandeur issus des normes et références du secteur — base de chiffrage des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1207008"/>
            <a:ext cx="2048256" cy="12618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2608" y="1207008"/>
            <a:ext cx="2048256" cy="457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35024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VENTILATION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1536192"/>
            <a:ext cx="1783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4CAF50"/>
                </a:solidFill>
                <a:latin typeface="Calibri"/>
              </a:rPr>
              <a:t>30–50 %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92024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0D2818"/>
                </a:solidFill>
                <a:latin typeface="Calibri"/>
              </a:rPr>
              <a:t>d'économie sur le poste ventilateurs avec variateur de vitesse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50591" y="1207008"/>
            <a:ext cx="2048256" cy="12618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50591" y="1207008"/>
            <a:ext cx="2048256" cy="457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96896" y="1335024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ÉCLAIRAGE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6896" y="1536192"/>
            <a:ext cx="1783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4CAF50"/>
                </a:solidFill>
                <a:latin typeface="Calibri"/>
              </a:rPr>
              <a:t>60–70 %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896" y="192024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0D2818"/>
                </a:solidFill>
                <a:latin typeface="Calibri"/>
              </a:rPr>
              <a:t>de consommation en moins avec LED vs fluorescent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08576" y="1207008"/>
            <a:ext cx="2048256" cy="12618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08576" y="1207008"/>
            <a:ext cx="2048256" cy="457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1335024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AIR COMPRIMÉ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1536192"/>
            <a:ext cx="1783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EF4444"/>
                </a:solidFill>
                <a:latin typeface="Calibri"/>
              </a:rPr>
              <a:t>0,5 kW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92024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0D2818"/>
                </a:solidFill>
                <a:latin typeface="Calibri"/>
              </a:rPr>
              <a:t>perdus en continu pour une fuite de 3 mm à 7 bars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1207008"/>
            <a:ext cx="2048256" cy="12618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66560" y="1207008"/>
            <a:ext cx="2048256" cy="457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12864" y="1335024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COMPRESSEURS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2864" y="1536192"/>
            <a:ext cx="1783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4CAF50"/>
                </a:solidFill>
                <a:latin typeface="Calibri"/>
              </a:rPr>
              <a:t>30–40 %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12864" y="1920240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0D2818"/>
                </a:solidFill>
                <a:latin typeface="Calibri"/>
              </a:rPr>
              <a:t>d'écart de consommation entre classe A++ et classe 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8" y="2596896"/>
            <a:ext cx="2048256" cy="12618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8" y="2596896"/>
            <a:ext cx="2048256" cy="457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2724912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ÉCHAUDAGE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2926079"/>
            <a:ext cx="1783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4CAF50"/>
                </a:solidFill>
                <a:latin typeface="Calibri"/>
              </a:rPr>
              <a:t>20–35 %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3310128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0D2818"/>
                </a:solidFill>
                <a:latin typeface="Calibri"/>
              </a:rPr>
              <a:t>de besoins en chaleur en moins si la cuve est isolée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50591" y="2596896"/>
            <a:ext cx="2048256" cy="12618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50591" y="2596896"/>
            <a:ext cx="2048256" cy="457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96896" y="2724912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CONDENSEURS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96896" y="2926079"/>
            <a:ext cx="1783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EF4444"/>
                </a:solidFill>
                <a:latin typeface="Calibri"/>
              </a:rPr>
              <a:t>+15–25 %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96896" y="3310128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0D2818"/>
                </a:solidFill>
                <a:latin typeface="Calibri"/>
              </a:rPr>
              <a:t>de surconsommation quand le condenseur est encrassé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08576" y="2596896"/>
            <a:ext cx="2048256" cy="12618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08576" y="2596896"/>
            <a:ext cx="2048256" cy="457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54880" y="2724912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CHAÎNE FROID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2926079"/>
            <a:ext cx="1783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4CAF50"/>
                </a:solidFill>
                <a:latin typeface="Calibri"/>
              </a:rPr>
              <a:t>80 %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3310128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0D2818"/>
                </a:solidFill>
                <a:latin typeface="Calibri"/>
              </a:rPr>
              <a:t>d'entrées de chaleur évitées avec rideaux à lanières efficaces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766560" y="2596896"/>
            <a:ext cx="2048256" cy="12618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766560" y="2596896"/>
            <a:ext cx="2048256" cy="4572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12864" y="2724912"/>
            <a:ext cx="1783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i="0">
                <a:solidFill>
                  <a:srgbClr val="64748B"/>
                </a:solidFill>
                <a:latin typeface="Calibri"/>
              </a:rPr>
              <a:t>CHALEUR FATALE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12864" y="2926079"/>
            <a:ext cx="17830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4CAF50"/>
                </a:solidFill>
                <a:latin typeface="Calibri"/>
              </a:rPr>
              <a:t>30–40 %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12864" y="3310128"/>
            <a:ext cx="17830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0D2818"/>
                </a:solidFill>
                <a:latin typeface="Calibri"/>
              </a:rPr>
              <a:t>des besoins en eau chaude sanitaire couverts par récupération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2608" y="4059936"/>
            <a:ext cx="8558784" cy="658368"/>
          </a:xfrm>
          <a:prstGeom prst="rect">
            <a:avLst/>
          </a:prstGeom>
          <a:solidFill>
            <a:srgbClr val="1A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160520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4CAF50"/>
                </a:solidFill>
                <a:latin typeface="Calibri"/>
              </a:rPr>
              <a:t>PARAMÈTRES CIBLES À SURVEILLER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063240" y="416052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Température bâtiment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63240" y="434340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18–25 °C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26280" y="416052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Ventilation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26280" y="434340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0,5–1,5 m/s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416052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Éclairage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89320" y="434340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12–14 h / jour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360" y="416052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 i="0">
                <a:solidFill>
                  <a:srgbClr val="BBBBBB"/>
                </a:solidFill>
                <a:latin typeface="Calibri"/>
              </a:rPr>
              <a:t>ROI détection fuites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52360" y="434340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&lt; 6 mois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 i="0">
                <a:solidFill>
                  <a:srgbClr val="94A3B8"/>
                </a:solidFill>
                <a:latin typeface="Calibri"/>
              </a:rPr>
              <a:t>Ces ordres de grandeur servent de base au chiffrage des gains du plan d'action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574</Words>
  <Application>Microsoft Office PowerPoint</Application>
  <PresentationFormat>Affichage à l'écran (16:9)</PresentationFormat>
  <Paragraphs>99</Paragraphs>
  <Slides>7</Slides>
  <Notes>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 Énergétique - Volaille Pro</dc:title>
  <dc:subject>PptxGenJS Presentation</dc:subject>
  <dc:creator>PptxGenJS</dc:creator>
  <cp:lastModifiedBy>HP PROBOOK</cp:lastModifiedBy>
  <cp:revision>3</cp:revision>
  <dcterms:created xsi:type="dcterms:W3CDTF">2026-05-07T20:07:51Z</dcterms:created>
  <dcterms:modified xsi:type="dcterms:W3CDTF">2026-08-11T21:06:41Z</dcterms:modified>
</cp:coreProperties>
</file>